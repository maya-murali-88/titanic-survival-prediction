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 Bold" charset="1" panose="00000000000000000000"/>
      <p:regular r:id="rId14"/>
    </p:embeddedFont>
    <p:embeddedFont>
      <p:font typeface="Barlow Condensed Bold" charset="1" panose="00000806000000000000"/>
      <p:regular r:id="rId15"/>
    </p:embeddedFont>
    <p:embeddedFont>
      <p:font typeface="Open Sans" charset="1" panose="00000000000000000000"/>
      <p:regular r:id="rId16"/>
    </p:embeddedFont>
    <p:embeddedFont>
      <p:font typeface="Open Sans Bold Italics" charset="1" panose="00000000000000000000"/>
      <p:regular r:id="rId17"/>
    </p:embeddedFont>
    <p:embeddedFont>
      <p:font typeface="Open Sans Italic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9124" y="0"/>
            <a:ext cx="5189192" cy="10287000"/>
          </a:xfrm>
          <a:custGeom>
            <a:avLst/>
            <a:gdLst/>
            <a:ahLst/>
            <a:cxnLst/>
            <a:rect r="r" b="b" t="t" l="l"/>
            <a:pathLst>
              <a:path h="10287000" w="5189192">
                <a:moveTo>
                  <a:pt x="0" y="0"/>
                </a:moveTo>
                <a:lnTo>
                  <a:pt x="5189191" y="0"/>
                </a:lnTo>
                <a:lnTo>
                  <a:pt x="518919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126212" t="0" r="-126212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1076" y="2774463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6" y="0"/>
                </a:lnTo>
                <a:lnTo>
                  <a:pt x="5029316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50392" y="3211684"/>
            <a:ext cx="8924186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1F202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Titanic Survival Prediction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01465" y="4499440"/>
            <a:ext cx="1185783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Internship Machine Learning Classification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52292" y="6458388"/>
            <a:ext cx="269944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Maya Murali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23/05/2026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01465" y="5142754"/>
            <a:ext cx="639369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Python | Pandas | Scikit-learn | Seaborn |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222697" y="5939693"/>
            <a:ext cx="4771640" cy="3832957"/>
          </a:xfrm>
          <a:custGeom>
            <a:avLst/>
            <a:gdLst/>
            <a:ahLst/>
            <a:cxnLst/>
            <a:rect r="r" b="b" t="t" l="l"/>
            <a:pathLst>
              <a:path h="3832957" w="4771640">
                <a:moveTo>
                  <a:pt x="0" y="0"/>
                </a:moveTo>
                <a:lnTo>
                  <a:pt x="4771640" y="0"/>
                </a:lnTo>
                <a:lnTo>
                  <a:pt x="4771640" y="3832957"/>
                </a:lnTo>
                <a:lnTo>
                  <a:pt x="0" y="3832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45469" y="3282430"/>
            <a:ext cx="3077228" cy="2050203"/>
          </a:xfrm>
          <a:custGeom>
            <a:avLst/>
            <a:gdLst/>
            <a:ahLst/>
            <a:cxnLst/>
            <a:rect r="r" b="b" t="t" l="l"/>
            <a:pathLst>
              <a:path h="2050203" w="3077228">
                <a:moveTo>
                  <a:pt x="0" y="0"/>
                </a:moveTo>
                <a:lnTo>
                  <a:pt x="3077228" y="0"/>
                </a:lnTo>
                <a:lnTo>
                  <a:pt x="3077228" y="2050203"/>
                </a:lnTo>
                <a:lnTo>
                  <a:pt x="0" y="2050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01377" y="1095375"/>
            <a:ext cx="9207707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Dataset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66925" y="2994249"/>
            <a:ext cx="364200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Kaggle Titanic 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0975" y="2987264"/>
            <a:ext cx="269944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Source: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94278" y="3475258"/>
            <a:ext cx="3642004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Passenger Class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Age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Gender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Fare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Family Information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Embarkation Port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794278" y="2987264"/>
            <a:ext cx="269944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Features: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0975" y="6006480"/>
            <a:ext cx="269944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Type: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59373" y="6013466"/>
            <a:ext cx="364200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Binary Classification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59373" y="6489716"/>
            <a:ext cx="168912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 = Did Not Survive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= Survived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7228300" y="-7188"/>
            <a:ext cx="1043076" cy="1043076"/>
          </a:xfrm>
          <a:custGeom>
            <a:avLst/>
            <a:gdLst/>
            <a:ahLst/>
            <a:cxnLst/>
            <a:rect r="r" b="b" t="t" l="l"/>
            <a:pathLst>
              <a:path h="1043076" w="1043076">
                <a:moveTo>
                  <a:pt x="0" y="0"/>
                </a:moveTo>
                <a:lnTo>
                  <a:pt x="1043075" y="0"/>
                </a:lnTo>
                <a:lnTo>
                  <a:pt x="1043075" y="1043076"/>
                </a:lnTo>
                <a:lnTo>
                  <a:pt x="0" y="1043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8720" y="2859696"/>
            <a:ext cx="4768949" cy="3722847"/>
            <a:chOff x="0" y="0"/>
            <a:chExt cx="6358599" cy="4963796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2"/>
            <a:srcRect l="6766" t="0" r="6766" b="0"/>
            <a:stretch>
              <a:fillRect/>
            </a:stretch>
          </p:blipFill>
          <p:spPr>
            <a:xfrm flipH="false" flipV="false">
              <a:off x="0" y="0"/>
              <a:ext cx="6358599" cy="4963796"/>
            </a:xfrm>
            <a:prstGeom prst="rect">
              <a:avLst/>
            </a:prstGeom>
          </p:spPr>
        </p:pic>
      </p:grpSp>
      <p:grpSp>
        <p:nvGrpSpPr>
          <p:cNvPr name="Group 13" id="13"/>
          <p:cNvGrpSpPr/>
          <p:nvPr/>
        </p:nvGrpSpPr>
        <p:grpSpPr>
          <a:xfrm rot="0">
            <a:off x="6562295" y="2859696"/>
            <a:ext cx="5263288" cy="3722847"/>
            <a:chOff x="0" y="0"/>
            <a:chExt cx="7017717" cy="4963796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3"/>
            <a:srcRect l="0" t="450" r="0" b="450"/>
            <a:stretch>
              <a:fillRect/>
            </a:stretch>
          </p:blipFill>
          <p:spPr>
            <a:xfrm flipH="false" flipV="false">
              <a:off x="0" y="0"/>
              <a:ext cx="7017717" cy="4963796"/>
            </a:xfrm>
            <a:prstGeom prst="rect">
              <a:avLst/>
            </a:prstGeom>
          </p:spPr>
        </p:pic>
      </p:grpSp>
      <p:grpSp>
        <p:nvGrpSpPr>
          <p:cNvPr name="Group 15" id="15"/>
          <p:cNvGrpSpPr/>
          <p:nvPr/>
        </p:nvGrpSpPr>
        <p:grpSpPr>
          <a:xfrm rot="0">
            <a:off x="12125105" y="2859696"/>
            <a:ext cx="4012927" cy="3722847"/>
            <a:chOff x="0" y="0"/>
            <a:chExt cx="5350570" cy="4963796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/>
            <a:srcRect l="3986" t="0" r="3986" b="0"/>
            <a:stretch>
              <a:fillRect/>
            </a:stretch>
          </p:blipFill>
          <p:spPr>
            <a:xfrm flipH="false" flipV="false">
              <a:off x="0" y="0"/>
              <a:ext cx="5350570" cy="4963796"/>
            </a:xfrm>
            <a:prstGeom prst="rect">
              <a:avLst/>
            </a:prstGeom>
          </p:spPr>
        </p:pic>
      </p:grpSp>
      <p:sp>
        <p:nvSpPr>
          <p:cNvPr name="TextBox 17" id="17"/>
          <p:cNvSpPr txBox="true"/>
          <p:nvPr/>
        </p:nvSpPr>
        <p:spPr>
          <a:xfrm rot="0">
            <a:off x="17499918" y="9638067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51648" y="1095375"/>
            <a:ext cx="10447149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Exploratory Data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8720" y="7721378"/>
            <a:ext cx="7658905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Female passengers had significantly higher survival rates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First-class passengers showed better survival probability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Fare and passenger class strongly influenced survival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Family-related features impacted survival outcomes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38720" y="7139509"/>
            <a:ext cx="20120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7228300" y="-7188"/>
            <a:ext cx="1043076" cy="1043076"/>
          </a:xfrm>
          <a:custGeom>
            <a:avLst/>
            <a:gdLst/>
            <a:ahLst/>
            <a:cxnLst/>
            <a:rect r="r" b="b" t="t" l="l"/>
            <a:pathLst>
              <a:path h="1043076" w="1043076">
                <a:moveTo>
                  <a:pt x="0" y="0"/>
                </a:moveTo>
                <a:lnTo>
                  <a:pt x="1043075" y="0"/>
                </a:lnTo>
                <a:lnTo>
                  <a:pt x="1043075" y="1043076"/>
                </a:lnTo>
                <a:lnTo>
                  <a:pt x="0" y="1043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4214" y="2385382"/>
            <a:ext cx="4675649" cy="2801569"/>
            <a:chOff x="0" y="0"/>
            <a:chExt cx="1231447" cy="7378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1447" cy="737862"/>
            </a:xfrm>
            <a:custGeom>
              <a:avLst/>
              <a:gdLst/>
              <a:ahLst/>
              <a:cxnLst/>
              <a:rect r="r" b="b" t="t" l="l"/>
              <a:pathLst>
                <a:path h="737862" w="1231447">
                  <a:moveTo>
                    <a:pt x="0" y="0"/>
                  </a:moveTo>
                  <a:lnTo>
                    <a:pt x="1231447" y="0"/>
                  </a:lnTo>
                  <a:lnTo>
                    <a:pt x="1231447" y="737862"/>
                  </a:lnTo>
                  <a:lnTo>
                    <a:pt x="0" y="7378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31447" cy="775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Age - grouped median imputation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Embarked - mode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Fare - median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088103" y="2561380"/>
            <a:ext cx="354623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ENGINEERED FEATURES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56449" y="2385382"/>
            <a:ext cx="4675649" cy="2801569"/>
            <a:chOff x="0" y="0"/>
            <a:chExt cx="1231447" cy="737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1447" cy="737862"/>
            </a:xfrm>
            <a:custGeom>
              <a:avLst/>
              <a:gdLst/>
              <a:ahLst/>
              <a:cxnLst/>
              <a:rect r="r" b="b" t="t" l="l"/>
              <a:pathLst>
                <a:path h="737862" w="1231447">
                  <a:moveTo>
                    <a:pt x="0" y="0"/>
                  </a:moveTo>
                  <a:lnTo>
                    <a:pt x="1231447" y="0"/>
                  </a:lnTo>
                  <a:lnTo>
                    <a:pt x="1231447" y="737862"/>
                  </a:lnTo>
                  <a:lnTo>
                    <a:pt x="0" y="7378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31447" cy="775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FamilySize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IsAlone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Title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804519" y="238538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499918" y="9638067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28948" y="875931"/>
            <a:ext cx="12430105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Data Cleaning &amp; Feature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5034" y="2561380"/>
            <a:ext cx="354623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MISSING VALUE HANDLING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56449" y="2561380"/>
            <a:ext cx="354623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ENGINEERED 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35107" y="3121752"/>
            <a:ext cx="467564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AutoNum type="arabicPeriod" startAt="1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AgeGroup</a:t>
            </a:r>
          </a:p>
          <a:p>
            <a:pPr algn="l" marL="410209" indent="-205105" lvl="1">
              <a:lnSpc>
                <a:spcPts val="2659"/>
              </a:lnSpc>
              <a:buAutoNum type="arabicPeriod" startAt="1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FarePerPerson</a:t>
            </a: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AutoNum type="arabicPeriod" startAt="1"/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HasCabin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49064" y="8938260"/>
            <a:ext cx="3546232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WORKF</a:t>
            </a:r>
            <a:r>
              <a:rPr lang="en-US" b="true" sz="17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DIAGRAM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7228300" y="-7188"/>
            <a:ext cx="1043076" cy="1043076"/>
          </a:xfrm>
          <a:custGeom>
            <a:avLst/>
            <a:gdLst/>
            <a:ahLst/>
            <a:cxnLst/>
            <a:rect r="r" b="b" t="t" l="l"/>
            <a:pathLst>
              <a:path h="1043076" w="1043076">
                <a:moveTo>
                  <a:pt x="0" y="0"/>
                </a:moveTo>
                <a:lnTo>
                  <a:pt x="1043075" y="0"/>
                </a:lnTo>
                <a:lnTo>
                  <a:pt x="1043075" y="1043076"/>
                </a:lnTo>
                <a:lnTo>
                  <a:pt x="0" y="1043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163079" y="3443202"/>
            <a:ext cx="5965959" cy="3400596"/>
          </a:xfrm>
          <a:custGeom>
            <a:avLst/>
            <a:gdLst/>
            <a:ahLst/>
            <a:cxnLst/>
            <a:rect r="r" b="b" t="t" l="l"/>
            <a:pathLst>
              <a:path h="3400596" w="5965959">
                <a:moveTo>
                  <a:pt x="0" y="0"/>
                </a:moveTo>
                <a:lnTo>
                  <a:pt x="5965959" y="0"/>
                </a:lnTo>
                <a:lnTo>
                  <a:pt x="5965959" y="3400596"/>
                </a:lnTo>
                <a:lnTo>
                  <a:pt x="0" y="3400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371338" y="2727082"/>
            <a:ext cx="7887962" cy="4980820"/>
            <a:chOff x="0" y="0"/>
            <a:chExt cx="10517282" cy="6641093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3"/>
            <a:srcRect l="0" t="668" r="0" b="668"/>
            <a:stretch>
              <a:fillRect/>
            </a:stretch>
          </p:blipFill>
          <p:spPr>
            <a:xfrm flipH="false" flipV="false">
              <a:off x="0" y="0"/>
              <a:ext cx="10517282" cy="6641093"/>
            </a:xfrm>
            <a:prstGeom prst="rect">
              <a:avLst/>
            </a:prstGeom>
          </p:spPr>
        </p:pic>
      </p:grpSp>
      <p:sp>
        <p:nvSpPr>
          <p:cNvPr name="TextBox 14" id="14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28589" y="1095375"/>
            <a:ext cx="7030821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Modeling &amp; Evaluation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0975" y="2987264"/>
            <a:ext cx="269944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Models Used: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6606" y="7443742"/>
            <a:ext cx="20120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6606" y="7873778"/>
            <a:ext cx="765890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 achieved the strongest balance between accuracy and generalization.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228300" y="-7188"/>
            <a:ext cx="1043076" cy="1043076"/>
          </a:xfrm>
          <a:custGeom>
            <a:avLst/>
            <a:gdLst/>
            <a:ahLst/>
            <a:cxnLst/>
            <a:rect r="r" b="b" t="t" l="l"/>
            <a:pathLst>
              <a:path h="1043076" w="1043076">
                <a:moveTo>
                  <a:pt x="0" y="0"/>
                </a:moveTo>
                <a:lnTo>
                  <a:pt x="1043075" y="0"/>
                </a:lnTo>
                <a:lnTo>
                  <a:pt x="1043075" y="1043076"/>
                </a:lnTo>
                <a:lnTo>
                  <a:pt x="0" y="1043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6606" y="2632358"/>
            <a:ext cx="7302988" cy="5075544"/>
            <a:chOff x="0" y="0"/>
            <a:chExt cx="9737317" cy="6767392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2"/>
            <a:srcRect l="0" t="357" r="0" b="357"/>
            <a:stretch>
              <a:fillRect/>
            </a:stretch>
          </p:blipFill>
          <p:spPr>
            <a:xfrm flipH="false" flipV="false">
              <a:off x="0" y="0"/>
              <a:ext cx="9737317" cy="6767392"/>
            </a:xfrm>
            <a:prstGeom prst="rect">
              <a:avLst/>
            </a:prstGeom>
          </p:spPr>
        </p:pic>
      </p:grpSp>
      <p:sp>
        <p:nvSpPr>
          <p:cNvPr name="Freeform 13" id="13"/>
          <p:cNvSpPr/>
          <p:nvPr/>
        </p:nvSpPr>
        <p:spPr>
          <a:xfrm flipH="false" flipV="false" rot="0">
            <a:off x="10566879" y="3143069"/>
            <a:ext cx="6084985" cy="4054121"/>
          </a:xfrm>
          <a:custGeom>
            <a:avLst/>
            <a:gdLst/>
            <a:ahLst/>
            <a:cxnLst/>
            <a:rect r="r" b="b" t="t" l="l"/>
            <a:pathLst>
              <a:path h="4054121" w="6084985">
                <a:moveTo>
                  <a:pt x="0" y="0"/>
                </a:moveTo>
                <a:lnTo>
                  <a:pt x="6084985" y="0"/>
                </a:lnTo>
                <a:lnTo>
                  <a:pt x="6084985" y="4054122"/>
                </a:lnTo>
                <a:lnTo>
                  <a:pt x="0" y="4054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28589" y="1095375"/>
            <a:ext cx="9266314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ROC Curve &amp; Final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606" y="8113173"/>
            <a:ext cx="3432882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2C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Cross Validation Results: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16606" y="8467725"/>
            <a:ext cx="925027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The Logistic Regression model achieved consistent performance across all cross-validation folds.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The average cross-validation accuracy was approximately 82.4%.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43196" y="9409467"/>
            <a:ext cx="1163969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Hyperparameter tuning</a:t>
            </a:r>
            <a:r>
              <a:rPr lang="en-US" sz="1500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was performed on Random Forest, but Logistic Regression remained the best-performing and most stable model.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228300" y="-7188"/>
            <a:ext cx="1043076" cy="1043076"/>
          </a:xfrm>
          <a:custGeom>
            <a:avLst/>
            <a:gdLst/>
            <a:ahLst/>
            <a:cxnLst/>
            <a:rect r="r" b="b" t="t" l="l"/>
            <a:pathLst>
              <a:path h="1043076" w="1043076">
                <a:moveTo>
                  <a:pt x="0" y="0"/>
                </a:moveTo>
                <a:lnTo>
                  <a:pt x="1043075" y="0"/>
                </a:lnTo>
                <a:lnTo>
                  <a:pt x="1043075" y="1043076"/>
                </a:lnTo>
                <a:lnTo>
                  <a:pt x="0" y="1043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90744" y="1095375"/>
            <a:ext cx="9266314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Conclusion &amp; Key Learnings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16606" y="2633115"/>
            <a:ext cx="6467670" cy="1909166"/>
            <a:chOff x="0" y="0"/>
            <a:chExt cx="1703419" cy="502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3419" cy="502826"/>
            </a:xfrm>
            <a:custGeom>
              <a:avLst/>
              <a:gdLst/>
              <a:ahLst/>
              <a:cxnLst/>
              <a:rect r="r" b="b" t="t" l="l"/>
              <a:pathLst>
                <a:path h="502826" w="1703419">
                  <a:moveTo>
                    <a:pt x="0" y="0"/>
                  </a:moveTo>
                  <a:lnTo>
                    <a:pt x="1703419" y="0"/>
                  </a:lnTo>
                  <a:lnTo>
                    <a:pt x="1703419" y="502826"/>
                  </a:lnTo>
                  <a:lnTo>
                    <a:pt x="0" y="502826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03419" cy="540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029600" y="2771223"/>
            <a:ext cx="259898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9672" y="3156711"/>
            <a:ext cx="6221537" cy="138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Successfully devel</a:t>
            </a: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oped an end-to-end ML classification pipeline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EDA and feature engineering significantly improved understanding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 demonstrated strong and stable performance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followed industry-standard ML workflow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0" y="2633115"/>
            <a:ext cx="6467670" cy="1909166"/>
            <a:chOff x="0" y="0"/>
            <a:chExt cx="1703419" cy="5028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3419" cy="502826"/>
            </a:xfrm>
            <a:custGeom>
              <a:avLst/>
              <a:gdLst/>
              <a:ahLst/>
              <a:cxnLst/>
              <a:rect r="r" b="b" t="t" l="l"/>
              <a:pathLst>
                <a:path h="502826" w="1703419">
                  <a:moveTo>
                    <a:pt x="0" y="0"/>
                  </a:moveTo>
                  <a:lnTo>
                    <a:pt x="1703419" y="0"/>
                  </a:lnTo>
                  <a:lnTo>
                    <a:pt x="1703419" y="502826"/>
                  </a:lnTo>
                  <a:lnTo>
                    <a:pt x="0" y="502826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03419" cy="540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835721" y="2771223"/>
            <a:ext cx="259898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LEARNINGS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3901" y="3156711"/>
            <a:ext cx="4821734" cy="138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preprocessing is critical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Feature engineering strongly impacts performance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Simpler models can outperform complex models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Cross-validation improves reliability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316606" y="5911416"/>
            <a:ext cx="6467670" cy="1909166"/>
            <a:chOff x="0" y="0"/>
            <a:chExt cx="1703419" cy="5028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3419" cy="502826"/>
            </a:xfrm>
            <a:custGeom>
              <a:avLst/>
              <a:gdLst/>
              <a:ahLst/>
              <a:cxnLst/>
              <a:rect r="r" b="b" t="t" l="l"/>
              <a:pathLst>
                <a:path h="502826" w="1703419">
                  <a:moveTo>
                    <a:pt x="0" y="0"/>
                  </a:moveTo>
                  <a:lnTo>
                    <a:pt x="1703419" y="0"/>
                  </a:lnTo>
                  <a:lnTo>
                    <a:pt x="1703419" y="502826"/>
                  </a:lnTo>
                  <a:lnTo>
                    <a:pt x="0" y="502826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3419" cy="540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518089" y="6030579"/>
            <a:ext cx="36220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IMPROVEMENTS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9672" y="6451374"/>
            <a:ext cx="2991222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XGBoost</a:t>
            </a: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/ CatBo</a:t>
            </a: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ost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Advanced feature engineering</a:t>
            </a:r>
          </a:p>
          <a:p>
            <a:pPr algn="l" marL="323852" indent="-161926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Ensemble learning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7228300" y="-7188"/>
            <a:ext cx="1043076" cy="1043076"/>
          </a:xfrm>
          <a:custGeom>
            <a:avLst/>
            <a:gdLst/>
            <a:ahLst/>
            <a:cxnLst/>
            <a:rect r="r" b="b" t="t" l="l"/>
            <a:pathLst>
              <a:path h="1043076" w="1043076">
                <a:moveTo>
                  <a:pt x="0" y="0"/>
                </a:moveTo>
                <a:lnTo>
                  <a:pt x="1043075" y="0"/>
                </a:lnTo>
                <a:lnTo>
                  <a:pt x="1043075" y="1043076"/>
                </a:lnTo>
                <a:lnTo>
                  <a:pt x="0" y="1043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33671" y="4222750"/>
            <a:ext cx="9266314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Thank You.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28300" y="-7188"/>
            <a:ext cx="1043076" cy="1043076"/>
          </a:xfrm>
          <a:custGeom>
            <a:avLst/>
            <a:gdLst/>
            <a:ahLst/>
            <a:cxnLst/>
            <a:rect r="r" b="b" t="t" l="l"/>
            <a:pathLst>
              <a:path h="1043076" w="1043076">
                <a:moveTo>
                  <a:pt x="0" y="0"/>
                </a:moveTo>
                <a:lnTo>
                  <a:pt x="1043075" y="0"/>
                </a:lnTo>
                <a:lnTo>
                  <a:pt x="1043075" y="1043076"/>
                </a:lnTo>
                <a:lnTo>
                  <a:pt x="0" y="1043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DAHKeQ1Y7zE</dc:identifier>
  <dcterms:modified xsi:type="dcterms:W3CDTF">2011-08-01T06:04:30Z</dcterms:modified>
  <cp:revision>1</cp:revision>
  <dc:title>Titanic Survival Prediction</dc:title>
</cp:coreProperties>
</file>